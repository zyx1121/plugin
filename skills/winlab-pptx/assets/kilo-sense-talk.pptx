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79" r:id="rId7"/>
    <p:sldId id="280" r:id="rId8"/>
    <p:sldId id="263" r:id="rId9"/>
    <p:sldId id="281" r:id="rId10"/>
    <p:sldId id="265" r:id="rId11"/>
    <p:sldId id="277" r:id="rId12"/>
    <p:sldId id="267" r:id="rId13"/>
    <p:sldId id="278" r:id="rId14"/>
    <p:sldId id="270" r:id="rId15"/>
    <p:sldId id="282" r:id="rId16"/>
    <p:sldId id="271" r:id="rId17"/>
    <p:sldId id="283" r:id="rId18"/>
    <p:sldId id="275" r:id="rId19"/>
    <p:sldId id="284" r:id="rId20"/>
    <p:sldId id="276" r:id="rId21"/>
    <p:sldId id="285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17"/>
    <p:restoredTop sz="94714"/>
  </p:normalViewPr>
  <p:slideViewPr>
    <p:cSldViewPr snapToGrid="0">
      <p:cViewPr varScale="1">
        <p:scale>
          <a:sx n="146" d="100"/>
          <a:sy n="146" d="100"/>
        </p:scale>
        <p:origin x="19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4" name="Shape 14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FEF96-1DB0-5DF5-AF25-45DA1A1AC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>
            <a:extLst>
              <a:ext uri="{FF2B5EF4-FFF2-40B4-BE49-F238E27FC236}">
                <a16:creationId xmlns:a16="http://schemas.microsoft.com/office/drawing/2014/main" id="{1161BF65-1A96-9C41-C27C-DD709756B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4" name="Shape 144">
            <a:extLst>
              <a:ext uri="{FF2B5EF4-FFF2-40B4-BE49-F238E27FC236}">
                <a16:creationId xmlns:a16="http://schemas.microsoft.com/office/drawing/2014/main" id="{85FF2DF6-968D-3C31-54FD-1E1243CB01B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2987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4" name="Shape 1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1003C-8BD7-831A-EF58-A1EE1F617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>
            <a:extLst>
              <a:ext uri="{FF2B5EF4-FFF2-40B4-BE49-F238E27FC236}">
                <a16:creationId xmlns:a16="http://schemas.microsoft.com/office/drawing/2014/main" id="{B5B13AA2-307B-70A9-D2D7-EB5ABC211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4" name="Shape 154">
            <a:extLst>
              <a:ext uri="{FF2B5EF4-FFF2-40B4-BE49-F238E27FC236}">
                <a16:creationId xmlns:a16="http://schemas.microsoft.com/office/drawing/2014/main" id="{03256932-782C-F334-7558-C2BE9AA5188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6758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">
    <p:bg>
      <p:bgPr>
        <a:gradFill flip="none" rotWithShape="1">
          <a:gsLst>
            <a:gs pos="0">
              <a:srgbClr val="EBFAFF"/>
            </a:gs>
            <a:gs pos="1000">
              <a:srgbClr val="EBFAFF"/>
            </a:gs>
            <a:gs pos="35000">
              <a:srgbClr val="FFFFFF"/>
            </a:gs>
            <a:gs pos="99000">
              <a:srgbClr val="FFFFFF"/>
            </a:gs>
            <a:gs pos="100000">
              <a:srgbClr val="FFFFFF"/>
            </a:gs>
          </a:gsLst>
          <a:lin ang="54007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12192000" cy="2615102"/>
          </a:xfrm>
          <a:prstGeom prst="rect">
            <a:avLst/>
          </a:prstGeom>
          <a:gradFill>
            <a:gsLst>
              <a:gs pos="0">
                <a:srgbClr val="EBFAFF"/>
              </a:gs>
              <a:gs pos="1000">
                <a:srgbClr val="EBFAFF"/>
              </a:gs>
              <a:gs pos="29000">
                <a:srgbClr val="FFFFFF"/>
              </a:gs>
              <a:gs pos="99000">
                <a:srgbClr val="F7FDFF"/>
              </a:gs>
              <a:gs pos="100000">
                <a:srgbClr val="F7FDFF"/>
              </a:gs>
            </a:gsLst>
            <a:lin ang="5400011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3600">
                <a:solidFill>
                  <a:srgbClr val="1F497D"/>
                </a:solidFill>
              </a:defRPr>
            </a:pPr>
            <a:endParaRPr/>
          </a:p>
        </p:txBody>
      </p:sp>
      <p:sp>
        <p:nvSpPr>
          <p:cNvPr id="1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879716" y="2938635"/>
            <a:ext cx="8971800" cy="2574001"/>
          </a:xfrm>
          <a:prstGeom prst="rect">
            <a:avLst/>
          </a:prstGeom>
          <a:ln w="12700">
            <a:noFill/>
            <a:miter lim="400000"/>
          </a:ln>
        </p:spPr>
        <p:txBody>
          <a:bodyPr anchor="ctr"/>
          <a:lstStyle>
            <a:lvl1pPr marL="381000" indent="-304800" algn="ctr">
              <a:spcBef>
                <a:spcPts val="600"/>
              </a:spcBef>
              <a:buClrTx/>
              <a:buSzTx/>
              <a:buFontTx/>
              <a:buNone/>
              <a:defRPr sz="3200"/>
            </a:lvl1pPr>
            <a:lvl2pPr algn="ctr">
              <a:spcBef>
                <a:spcPts val="600"/>
              </a:spcBef>
              <a:buClrTx/>
              <a:buSzPts val="3200"/>
              <a:buFontTx/>
              <a:defRPr sz="3200"/>
            </a:lvl2pPr>
            <a:lvl3pPr algn="ctr">
              <a:spcBef>
                <a:spcPts val="600"/>
              </a:spcBef>
              <a:buClrTx/>
              <a:buSzPts val="3200"/>
              <a:buFontTx/>
              <a:defRPr sz="3200"/>
            </a:lvl3pPr>
            <a:lvl4pPr algn="ctr">
              <a:spcBef>
                <a:spcPts val="600"/>
              </a:spcBef>
              <a:buClrTx/>
              <a:buSzPts val="3200"/>
              <a:buFontTx/>
              <a:defRPr sz="3200"/>
            </a:lvl4pPr>
            <a:lvl5pPr algn="ctr">
              <a:spcBef>
                <a:spcPts val="600"/>
              </a:spcBef>
              <a:buClrTx/>
              <a:buSzPts val="3200"/>
              <a:buFontTx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grpSp>
        <p:nvGrpSpPr>
          <p:cNvPr id="21" name="Google Shape;19;p3"/>
          <p:cNvGrpSpPr/>
          <p:nvPr/>
        </p:nvGrpSpPr>
        <p:grpSpPr>
          <a:xfrm>
            <a:off x="384047" y="2386583"/>
            <a:ext cx="11685524" cy="230401"/>
            <a:chOff x="0" y="0"/>
            <a:chExt cx="11685522" cy="230400"/>
          </a:xfrm>
        </p:grpSpPr>
        <p:sp>
          <p:nvSpPr>
            <p:cNvPr id="19" name="Google Shape;20;p3"/>
            <p:cNvSpPr/>
            <p:nvPr/>
          </p:nvSpPr>
          <p:spPr>
            <a:xfrm>
              <a:off x="5774181" y="0"/>
              <a:ext cx="5911342" cy="230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  <a:endParaRPr/>
            </a:p>
          </p:txBody>
        </p:sp>
        <p:sp>
          <p:nvSpPr>
            <p:cNvPr id="20" name="Google Shape;21;p3"/>
            <p:cNvSpPr/>
            <p:nvPr/>
          </p:nvSpPr>
          <p:spPr>
            <a:xfrm>
              <a:off x="0" y="0"/>
              <a:ext cx="5783079" cy="23040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100000">
                  <a:srgbClr val="A3E7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  <a:endParaRPr/>
            </a:p>
          </p:txBody>
        </p:sp>
      </p:grpSp>
      <p:sp>
        <p:nvSpPr>
          <p:cNvPr id="22" name="Title Text"/>
          <p:cNvSpPr txBox="1">
            <a:spLocks noGrp="1"/>
          </p:cNvSpPr>
          <p:nvPr>
            <p:ph type="title"/>
          </p:nvPr>
        </p:nvSpPr>
        <p:spPr>
          <a:xfrm>
            <a:off x="2219892" y="404664"/>
            <a:ext cx="8313002" cy="1987501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23" name="Google Shape;23;p3"/>
          <p:cNvSpPr/>
          <p:nvPr/>
        </p:nvSpPr>
        <p:spPr>
          <a:xfrm>
            <a:off x="0" y="6453335"/>
            <a:ext cx="12192000" cy="414001"/>
          </a:xfrm>
          <a:prstGeom prst="rect">
            <a:avLst/>
          </a:prstGeom>
          <a:gradFill>
            <a:gsLst>
              <a:gs pos="0">
                <a:srgbClr val="7FCBF9"/>
              </a:gs>
              <a:gs pos="98000">
                <a:srgbClr val="C1EFFF"/>
              </a:gs>
              <a:gs pos="100000">
                <a:srgbClr val="C1EFFF"/>
              </a:gs>
            </a:gsLst>
            <a:lin ang="2700005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3600"/>
            </a:pP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281153" y="6483365"/>
            <a:ext cx="1233951" cy="340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NYCU CS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6" name="Google Shape;26;p3" descr="Google Shape;26;p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51" y="138374"/>
            <a:ext cx="1565436" cy="20570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2;p2"/>
          <p:cNvSpPr/>
          <p:nvPr/>
        </p:nvSpPr>
        <p:spPr>
          <a:xfrm>
            <a:off x="0" y="6453325"/>
            <a:ext cx="12192000" cy="414001"/>
          </a:xfrm>
          <a:prstGeom prst="rect">
            <a:avLst/>
          </a:prstGeom>
          <a:gradFill>
            <a:gsLst>
              <a:gs pos="0">
                <a:srgbClr val="7FCBF9"/>
              </a:gs>
              <a:gs pos="98000">
                <a:srgbClr val="C1EFFF"/>
              </a:gs>
              <a:gs pos="100000">
                <a:srgbClr val="C1EFFF"/>
              </a:gs>
            </a:gsLst>
            <a:lin ang="2700005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3600"/>
            </a:pPr>
            <a:endParaRPr/>
          </a:p>
        </p:txBody>
      </p:sp>
      <p:sp>
        <p:nvSpPr>
          <p:cNvPr id="51" name="Google Shape;13;p2"/>
          <p:cNvSpPr txBox="1"/>
          <p:nvPr/>
        </p:nvSpPr>
        <p:spPr>
          <a:xfrm>
            <a:off x="281153" y="6483365"/>
            <a:ext cx="1233951" cy="340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NYCU CS</a:t>
            </a:r>
          </a:p>
        </p:txBody>
      </p:sp>
      <p:sp>
        <p:nvSpPr>
          <p:cNvPr id="52" name="Google Shape;53;p7"/>
          <p:cNvSpPr txBox="1"/>
          <p:nvPr/>
        </p:nvSpPr>
        <p:spPr>
          <a:xfrm>
            <a:off x="281153" y="6453335"/>
            <a:ext cx="1233819" cy="340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NYCU CS</a:t>
            </a: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16325" y="6509481"/>
            <a:ext cx="284331" cy="2807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56" name="Google Shape;55;p7"/>
          <p:cNvGrpSpPr/>
          <p:nvPr/>
        </p:nvGrpSpPr>
        <p:grpSpPr>
          <a:xfrm>
            <a:off x="671614" y="982353"/>
            <a:ext cx="10996046" cy="121491"/>
            <a:chOff x="0" y="0"/>
            <a:chExt cx="10996044" cy="121490"/>
          </a:xfrm>
        </p:grpSpPr>
        <p:sp>
          <p:nvSpPr>
            <p:cNvPr id="54" name="Google Shape;56;p7"/>
            <p:cNvSpPr/>
            <p:nvPr/>
          </p:nvSpPr>
          <p:spPr>
            <a:xfrm>
              <a:off x="5433489" y="0"/>
              <a:ext cx="5562556" cy="121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  <a:endParaRPr/>
            </a:p>
          </p:txBody>
        </p:sp>
        <p:sp>
          <p:nvSpPr>
            <p:cNvPr id="55" name="Google Shape;57;p7"/>
            <p:cNvSpPr/>
            <p:nvPr/>
          </p:nvSpPr>
          <p:spPr>
            <a:xfrm>
              <a:off x="0" y="0"/>
              <a:ext cx="5441861" cy="12149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100000">
                  <a:srgbClr val="A3E7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  <a:endParaRPr/>
            </a:p>
          </p:txBody>
        </p:sp>
      </p:grp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58" name="Google Shape;59;p7" descr="Google Shape;59;p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8" y="90388"/>
            <a:ext cx="748004" cy="982887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Body Level One…"/>
          <p:cNvSpPr txBox="1">
            <a:spLocks noGrp="1"/>
          </p:cNvSpPr>
          <p:nvPr>
            <p:ph type="body" idx="1"/>
          </p:nvPr>
        </p:nvSpPr>
        <p:spPr>
          <a:xfrm>
            <a:off x="674675" y="1102950"/>
            <a:ext cx="10821900" cy="5350501"/>
          </a:xfrm>
          <a:prstGeom prst="rect">
            <a:avLst/>
          </a:prstGeom>
        </p:spPr>
        <p:txBody>
          <a:bodyPr/>
          <a:lstStyle>
            <a:lvl1pPr indent="-350520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" name="Google Shape;61;p7"/>
          <p:cNvSpPr>
            <a:spLocks noGrp="1"/>
          </p:cNvSpPr>
          <p:nvPr>
            <p:ph type="pic" sz="half" idx="21"/>
          </p:nvPr>
        </p:nvSpPr>
        <p:spPr>
          <a:xfrm>
            <a:off x="6613849" y="1370850"/>
            <a:ext cx="4594801" cy="4814700"/>
          </a:xfrm>
          <a:prstGeom prst="rect">
            <a:avLst/>
          </a:prstGeom>
          <a:ln w="12700">
            <a:noFill/>
            <a:miter lim="4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12;p2"/>
          <p:cNvSpPr/>
          <p:nvPr/>
        </p:nvSpPr>
        <p:spPr>
          <a:xfrm>
            <a:off x="0" y="6453325"/>
            <a:ext cx="12192000" cy="414001"/>
          </a:xfrm>
          <a:prstGeom prst="rect">
            <a:avLst/>
          </a:prstGeom>
          <a:gradFill>
            <a:gsLst>
              <a:gs pos="0">
                <a:srgbClr val="7FCBF9"/>
              </a:gs>
              <a:gs pos="98000">
                <a:srgbClr val="C1EFFF"/>
              </a:gs>
              <a:gs pos="100000">
                <a:srgbClr val="C1EFFF"/>
              </a:gs>
            </a:gsLst>
            <a:lin ang="2700005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3600"/>
            </a:pPr>
            <a:endParaRPr/>
          </a:p>
        </p:txBody>
      </p:sp>
      <p:sp>
        <p:nvSpPr>
          <p:cNvPr id="68" name="Google Shape;13;p2"/>
          <p:cNvSpPr txBox="1"/>
          <p:nvPr/>
        </p:nvSpPr>
        <p:spPr>
          <a:xfrm>
            <a:off x="281153" y="6483365"/>
            <a:ext cx="1233951" cy="340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NYCU CS</a:t>
            </a:r>
          </a:p>
        </p:txBody>
      </p:sp>
      <p:sp>
        <p:nvSpPr>
          <p:cNvPr id="69" name="Google Shape;63;p8"/>
          <p:cNvSpPr/>
          <p:nvPr/>
        </p:nvSpPr>
        <p:spPr>
          <a:xfrm>
            <a:off x="0" y="6453335"/>
            <a:ext cx="12192000" cy="404701"/>
          </a:xfrm>
          <a:prstGeom prst="rect">
            <a:avLst/>
          </a:prstGeom>
          <a:gradFill>
            <a:gsLst>
              <a:gs pos="0">
                <a:srgbClr val="7FCBF9"/>
              </a:gs>
              <a:gs pos="98000">
                <a:srgbClr val="C1EFFF"/>
              </a:gs>
              <a:gs pos="100000">
                <a:srgbClr val="C1EFFF"/>
              </a:gs>
            </a:gsLst>
            <a:lin ang="2700005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3600"/>
            </a:pPr>
            <a:endParaRPr/>
          </a:p>
        </p:txBody>
      </p:sp>
      <p:sp>
        <p:nvSpPr>
          <p:cNvPr id="70" name="Google Shape;64;p8"/>
          <p:cNvSpPr txBox="1"/>
          <p:nvPr/>
        </p:nvSpPr>
        <p:spPr>
          <a:xfrm>
            <a:off x="281153" y="6453335"/>
            <a:ext cx="1233951" cy="340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NYCU CS</a:t>
            </a: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74" name="Google Shape;66;p8"/>
          <p:cNvGrpSpPr/>
          <p:nvPr/>
        </p:nvGrpSpPr>
        <p:grpSpPr>
          <a:xfrm>
            <a:off x="671614" y="982353"/>
            <a:ext cx="10996046" cy="121491"/>
            <a:chOff x="0" y="0"/>
            <a:chExt cx="10996044" cy="121490"/>
          </a:xfrm>
        </p:grpSpPr>
        <p:sp>
          <p:nvSpPr>
            <p:cNvPr id="72" name="Google Shape;67;p8"/>
            <p:cNvSpPr/>
            <p:nvPr/>
          </p:nvSpPr>
          <p:spPr>
            <a:xfrm>
              <a:off x="5433489" y="0"/>
              <a:ext cx="5562556" cy="121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  <a:endParaRPr/>
            </a:p>
          </p:txBody>
        </p:sp>
        <p:sp>
          <p:nvSpPr>
            <p:cNvPr id="73" name="Google Shape;68;p8"/>
            <p:cNvSpPr/>
            <p:nvPr/>
          </p:nvSpPr>
          <p:spPr>
            <a:xfrm>
              <a:off x="0" y="0"/>
              <a:ext cx="5441861" cy="12149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100000">
                  <a:srgbClr val="A3E7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  <a:endParaRPr/>
            </a:p>
          </p:txBody>
        </p:sp>
      </p:grpSp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76" name="Google Shape;70;p8" descr="Google Shape;70;p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8" y="90388"/>
            <a:ext cx="748004" cy="982887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74675" y="1102950"/>
            <a:ext cx="5415301" cy="5350501"/>
          </a:xfrm>
          <a:prstGeom prst="rect">
            <a:avLst/>
          </a:prstGeom>
        </p:spPr>
        <p:txBody>
          <a:bodyPr/>
          <a:lstStyle>
            <a:lvl1pPr indent="-350520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Google Shape;72;p8"/>
          <p:cNvSpPr txBox="1">
            <a:spLocks noGrp="1"/>
          </p:cNvSpPr>
          <p:nvPr>
            <p:ph type="body" sz="half" idx="21"/>
          </p:nvPr>
        </p:nvSpPr>
        <p:spPr>
          <a:xfrm>
            <a:off x="6089899" y="1102949"/>
            <a:ext cx="5415302" cy="5350502"/>
          </a:xfrm>
          <a:prstGeom prst="rect">
            <a:avLst/>
          </a:prstGeom>
        </p:spPr>
        <p:txBody>
          <a:bodyPr/>
          <a:lstStyle/>
          <a:p>
            <a:pPr indent="-350520"/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BFAFF"/>
            </a:gs>
            <a:gs pos="1000">
              <a:srgbClr val="EBFAFF"/>
            </a:gs>
            <a:gs pos="35000">
              <a:srgbClr val="FFFFFF"/>
            </a:gs>
            <a:gs pos="99000">
              <a:srgbClr val="FFFFFF"/>
            </a:gs>
            <a:gs pos="100000">
              <a:srgbClr val="FFFFFF"/>
            </a:gs>
          </a:gsLst>
          <a:lin ang="5400011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2"/>
          <p:cNvSpPr/>
          <p:nvPr/>
        </p:nvSpPr>
        <p:spPr>
          <a:xfrm>
            <a:off x="0" y="6453325"/>
            <a:ext cx="12192000" cy="414001"/>
          </a:xfrm>
          <a:prstGeom prst="rect">
            <a:avLst/>
          </a:prstGeom>
          <a:gradFill>
            <a:gsLst>
              <a:gs pos="0">
                <a:srgbClr val="7FCBF9"/>
              </a:gs>
              <a:gs pos="98000">
                <a:srgbClr val="C1EFFF"/>
              </a:gs>
              <a:gs pos="100000">
                <a:srgbClr val="C1EFFF"/>
              </a:gs>
            </a:gsLst>
            <a:lin ang="2700005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3600"/>
            </a:pPr>
            <a:endParaRPr/>
          </a:p>
        </p:txBody>
      </p:sp>
      <p:sp>
        <p:nvSpPr>
          <p:cNvPr id="3" name="Google Shape;13;p2"/>
          <p:cNvSpPr txBox="1"/>
          <p:nvPr/>
        </p:nvSpPr>
        <p:spPr>
          <a:xfrm>
            <a:off x="281153" y="6483365"/>
            <a:ext cx="1233951" cy="340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NYCU CS</a:t>
            </a:r>
          </a:p>
        </p:txBody>
      </p:sp>
      <p:grpSp>
        <p:nvGrpSpPr>
          <p:cNvPr id="6" name="Google Shape;37;p5"/>
          <p:cNvGrpSpPr/>
          <p:nvPr/>
        </p:nvGrpSpPr>
        <p:grpSpPr>
          <a:xfrm>
            <a:off x="671614" y="982353"/>
            <a:ext cx="10996046" cy="121491"/>
            <a:chOff x="0" y="0"/>
            <a:chExt cx="10996044" cy="121490"/>
          </a:xfrm>
        </p:grpSpPr>
        <p:sp>
          <p:nvSpPr>
            <p:cNvPr id="4" name="Google Shape;38;p5"/>
            <p:cNvSpPr/>
            <p:nvPr/>
          </p:nvSpPr>
          <p:spPr>
            <a:xfrm>
              <a:off x="5433489" y="0"/>
              <a:ext cx="5562556" cy="121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  <a:endParaRPr/>
            </a:p>
          </p:txBody>
        </p:sp>
        <p:sp>
          <p:nvSpPr>
            <p:cNvPr id="5" name="Google Shape;39;p5"/>
            <p:cNvSpPr/>
            <p:nvPr/>
          </p:nvSpPr>
          <p:spPr>
            <a:xfrm>
              <a:off x="0" y="0"/>
              <a:ext cx="5441861" cy="12149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100000">
                  <a:srgbClr val="A3E7FF"/>
                </a:gs>
              </a:gsLst>
              <a:lin ang="2700005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3600">
                  <a:solidFill>
                    <a:srgbClr val="1F497D"/>
                  </a:solidFill>
                </a:defRPr>
              </a:pPr>
              <a:endParaRPr/>
            </a:p>
          </p:txBody>
        </p:sp>
      </p:grpSp>
      <p:sp>
        <p:nvSpPr>
          <p:cNvPr id="7" name="Title Text"/>
          <p:cNvSpPr txBox="1">
            <a:spLocks noGrp="1"/>
          </p:cNvSpPr>
          <p:nvPr>
            <p:ph type="title"/>
          </p:nvPr>
        </p:nvSpPr>
        <p:spPr>
          <a:xfrm>
            <a:off x="1127448" y="61319"/>
            <a:ext cx="10081201" cy="879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16457" y="6509466"/>
            <a:ext cx="284332" cy="280760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Google Shape;42;p5" descr="Google Shape;42;p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428" y="90388"/>
            <a:ext cx="748004" cy="982887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Body Level One…"/>
          <p:cNvSpPr txBox="1">
            <a:spLocks noGrp="1"/>
          </p:cNvSpPr>
          <p:nvPr>
            <p:ph type="body" idx="1"/>
          </p:nvPr>
        </p:nvSpPr>
        <p:spPr>
          <a:xfrm>
            <a:off x="674675" y="1102950"/>
            <a:ext cx="10993201" cy="5350501"/>
          </a:xfrm>
          <a:prstGeom prst="rect">
            <a:avLst/>
          </a:prstGeom>
          <a:ln>
            <a:solidFill>
              <a:srgbClr val="9FE6FF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●"/>
        <a:tabLst/>
        <a:defRPr sz="2400" b="0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1pPr>
      <a:lvl2pPr marL="9144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○"/>
        <a:tabLst/>
        <a:defRPr sz="2400" b="0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2pPr>
      <a:lvl3pPr marL="13716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■"/>
        <a:tabLst/>
        <a:defRPr sz="2400" b="0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3pPr>
      <a:lvl4pPr marL="18288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●"/>
        <a:tabLst/>
        <a:defRPr sz="2400" b="0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4pPr>
      <a:lvl5pPr marL="22860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○"/>
        <a:tabLst/>
        <a:defRPr sz="2400" b="0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5pPr>
      <a:lvl6pPr marL="27432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■"/>
        <a:tabLst/>
        <a:defRPr sz="2400" b="0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6pPr>
      <a:lvl7pPr marL="32004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●"/>
        <a:tabLst/>
        <a:defRPr sz="2400" b="0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7pPr>
      <a:lvl8pPr marL="36576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○"/>
        <a:tabLst/>
        <a:defRPr sz="2400" b="0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8pPr>
      <a:lvl9pPr marL="41148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3297FC"/>
        </a:buClr>
        <a:buSzPts val="2400"/>
        <a:buFont typeface="Calibri"/>
        <a:buChar char="■"/>
        <a:tabLst/>
        <a:defRPr sz="2400" b="0" i="0" u="none" strike="noStrike" cap="none" spc="0" baseline="0">
          <a:solidFill>
            <a:srgbClr val="3297FC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2026/6/15…"/>
          <p:cNvSpPr txBox="1">
            <a:spLocks noGrp="1"/>
          </p:cNvSpPr>
          <p:nvPr>
            <p:ph type="body" sz="half" idx="1"/>
          </p:nvPr>
        </p:nvSpPr>
        <p:spPr>
          <a:xfrm>
            <a:off x="1610100" y="3231886"/>
            <a:ext cx="8971800" cy="2574001"/>
          </a:xfrm>
          <a:prstGeom prst="rect">
            <a:avLst/>
          </a:prstGeom>
        </p:spPr>
        <p:txBody>
          <a:bodyPr/>
          <a:lstStyle/>
          <a:p>
            <a:r>
              <a:rPr dirty="0"/>
              <a:t>2026/6/15</a:t>
            </a:r>
          </a:p>
          <a:p>
            <a:endParaRPr lang="en-US" dirty="0"/>
          </a:p>
          <a:p>
            <a:r>
              <a:rPr dirty="0"/>
              <a:t>詹詠翔</a:t>
            </a:r>
          </a:p>
        </p:txBody>
      </p:sp>
      <p:sp>
        <p:nvSpPr>
          <p:cNvPr id="88" name="A Sensory Layer for…"/>
          <p:cNvSpPr txBox="1">
            <a:spLocks noGrp="1"/>
          </p:cNvSpPr>
          <p:nvPr>
            <p:ph type="title"/>
          </p:nvPr>
        </p:nvSpPr>
        <p:spPr>
          <a:xfrm>
            <a:off x="1939499" y="351613"/>
            <a:ext cx="8313002" cy="1987501"/>
          </a:xfrm>
          <a:prstGeom prst="rect">
            <a:avLst/>
          </a:prstGeom>
        </p:spPr>
        <p:txBody>
          <a:bodyPr/>
          <a:lstStyle/>
          <a:p>
            <a:r>
              <a:rPr dirty="0"/>
              <a:t>A Sensory Layer for</a:t>
            </a:r>
            <a:r>
              <a:rPr lang="en-US" dirty="0"/>
              <a:t> </a:t>
            </a:r>
            <a:r>
              <a:rPr dirty="0"/>
              <a:t>AI Agent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ut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Outline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93" name="Motiva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TW" b="1" dirty="0"/>
              <a:t>Motivation</a:t>
            </a:r>
          </a:p>
          <a:p>
            <a:r>
              <a:rPr lang="en-TW" dirty="0"/>
              <a:t>Agent Sense</a:t>
            </a:r>
          </a:p>
          <a:p>
            <a:r>
              <a:rPr lang="en-TW" dirty="0"/>
              <a:t>Demo</a:t>
            </a:r>
          </a:p>
          <a:p>
            <a:r>
              <a:rPr lang="en-TW" dirty="0"/>
              <a:t>Architecture</a:t>
            </a:r>
          </a:p>
          <a:p>
            <a:r>
              <a:rPr lang="en-TW" dirty="0"/>
              <a:t>Hearing</a:t>
            </a:r>
          </a:p>
          <a:p>
            <a:r>
              <a:rPr lang="en-TW" dirty="0"/>
              <a:t>Seeing</a:t>
            </a:r>
          </a:p>
          <a:p>
            <a:r>
              <a:rPr lang="en-TW" dirty="0"/>
              <a:t>Agent Integration</a:t>
            </a:r>
          </a:p>
          <a:p>
            <a:r>
              <a:rPr lang="en-TW" dirty="0"/>
              <a:t>Future Work</a:t>
            </a:r>
          </a:p>
          <a:p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From YouTube Insight to Not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From YouTube Insight to Notes</a:t>
            </a:r>
          </a:p>
        </p:txBody>
      </p:sp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97" name="Scenario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Scenario:</a:t>
            </a:r>
          </a:p>
          <a:p>
            <a:pPr lvl="1">
              <a:buChar char="●"/>
            </a:pPr>
            <a:r>
              <a:rPr dirty="0"/>
              <a:t>You are watching a YouTube talk and want to keep one segment</a:t>
            </a:r>
          </a:p>
          <a:p>
            <a:endParaRPr dirty="0"/>
          </a:p>
          <a:p>
            <a:r>
              <a:rPr dirty="0"/>
              <a:t>Workflow:</a:t>
            </a:r>
          </a:p>
          <a:p>
            <a:pPr lvl="1">
              <a:buChar char="●"/>
            </a:pPr>
            <a:r>
              <a:rPr dirty="0"/>
              <a:t>Paste the URL into Claude Code</a:t>
            </a:r>
          </a:p>
          <a:p>
            <a:pPr lvl="1">
              <a:buChar char="●"/>
            </a:pPr>
            <a:r>
              <a:rPr dirty="0"/>
              <a:t>Wait for the transcribe MCP to return the full transcript</a:t>
            </a:r>
          </a:p>
          <a:p>
            <a:pPr lvl="1">
              <a:buFont typeface="Calibri"/>
              <a:buChar char="●"/>
            </a:pPr>
            <a:r>
              <a:rPr lang="en-TW" dirty="0"/>
              <a:t>Tell the agent which segment to save and where to store it</a:t>
            </a:r>
            <a:endParaRPr dirty="0"/>
          </a:p>
          <a:p>
            <a:endParaRPr dirty="0"/>
          </a:p>
          <a:p>
            <a:r>
              <a:rPr dirty="0"/>
              <a:t>The bottleneck:</a:t>
            </a:r>
          </a:p>
          <a:p>
            <a:pPr lvl="1">
              <a:buFont typeface="Calibri"/>
              <a:buChar char="●"/>
            </a:pPr>
            <a:r>
              <a:rPr lang="en-TW" dirty="0"/>
              <a:t>The agent does not share the user’s context</a:t>
            </a:r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Agents Need Sen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Agent Need Senses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01" name="Agents run on our computers, but they are still blind and deaf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TW" dirty="0"/>
              <a:t>Agents run on our computers, but they do not know what we see or hear</a:t>
            </a:r>
          </a:p>
          <a:p>
            <a:pPr lvl="1">
              <a:buFont typeface="Calibri"/>
              <a:buChar char="●"/>
            </a:pPr>
            <a:r>
              <a:rPr lang="en-TW" dirty="0"/>
              <a:t>We watch videos, listen to talks, and point at important moments</a:t>
            </a:r>
            <a:endParaRPr dirty="0"/>
          </a:p>
          <a:p>
            <a:pPr lvl="1">
              <a:buChar char="●"/>
            </a:pPr>
            <a:r>
              <a:rPr lang="en-US" dirty="0"/>
              <a:t>The agent only receives the text and images we explicitly provide</a:t>
            </a:r>
          </a:p>
          <a:p>
            <a:pPr lvl="1">
              <a:buChar char="●"/>
            </a:pPr>
            <a:endParaRPr dirty="0"/>
          </a:p>
          <a:p>
            <a:r>
              <a:rPr lang="en-TW" dirty="0"/>
              <a:t>Goal:</a:t>
            </a:r>
            <a:endParaRPr dirty="0"/>
          </a:p>
          <a:p>
            <a:pPr lvl="1">
              <a:buFont typeface="Calibri"/>
              <a:buChar char="●"/>
            </a:pPr>
            <a:r>
              <a:rPr lang="en-TW" dirty="0"/>
              <a:t>Let the agent hear what we hear</a:t>
            </a:r>
            <a:endParaRPr dirty="0"/>
          </a:p>
          <a:p>
            <a:pPr lvl="1">
              <a:buFont typeface="Calibri"/>
              <a:buChar char="●"/>
            </a:pPr>
            <a:r>
              <a:rPr lang="en-TW" dirty="0"/>
              <a:t>Let the agent see what we point at</a:t>
            </a:r>
            <a:endParaRPr dirty="0"/>
          </a:p>
          <a:p>
            <a:pPr lvl="1">
              <a:buFont typeface="Calibri"/>
              <a:buChar char="●"/>
            </a:pPr>
            <a:r>
              <a:rPr lang="en-TW" dirty="0"/>
              <a:t>Let the agent understand what is happening before we explain it</a:t>
            </a:r>
          </a:p>
          <a:p>
            <a:pPr lvl="1">
              <a:buChar char="●"/>
            </a:pP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Kilo Sense: A Sensory Layer for AI Ag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TW" dirty="0"/>
              <a:t>Agent</a:t>
            </a:r>
            <a:r>
              <a:rPr dirty="0"/>
              <a:t> Sense: A Sensory Layer for AI Agent</a:t>
            </a:r>
          </a:p>
        </p:txBody>
      </p:sp>
      <p:sp>
        <p:nvSpPr>
          <p:cNvPr id="106" name="Kilo Sense gives my agent (Kilo) access to the context I already hav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Agent Sense gives agent access to the context I already have</a:t>
            </a:r>
          </a:p>
          <a:p>
            <a:endParaRPr dirty="0"/>
          </a:p>
          <a:p>
            <a:r>
              <a:rPr dirty="0"/>
              <a:t>Hearing:</a:t>
            </a:r>
          </a:p>
          <a:p>
            <a:pPr lvl="1">
              <a:buChar char="●"/>
            </a:pPr>
            <a:r>
              <a:rPr dirty="0"/>
              <a:t>Turns system audio into live captions</a:t>
            </a:r>
          </a:p>
          <a:p>
            <a:pPr marL="76200" indent="0">
              <a:buNone/>
            </a:pPr>
            <a:endParaRPr dirty="0"/>
          </a:p>
          <a:p>
            <a:r>
              <a:rPr dirty="0"/>
              <a:t>Seeing:</a:t>
            </a:r>
          </a:p>
          <a:p>
            <a:pPr lvl="1">
              <a:buFont typeface="Calibri"/>
              <a:buChar char="●"/>
            </a:pPr>
            <a:r>
              <a:rPr lang="en-TW" dirty="0"/>
              <a:t>Provides a focus selector triggered by cursor shaking</a:t>
            </a:r>
            <a:endParaRPr dirty="0"/>
          </a:p>
          <a:p>
            <a:pPr lvl="1">
              <a:buFont typeface="Calibri"/>
              <a:buChar char="●"/>
            </a:pPr>
            <a:r>
              <a:rPr lang="en-TW" dirty="0"/>
              <a:t>Supports UI element selection and screen region capture</a:t>
            </a:r>
            <a:endParaRPr dirty="0"/>
          </a:p>
          <a:p>
            <a:endParaRPr lang="en-US" dirty="0"/>
          </a:p>
        </p:txBody>
      </p:sp>
      <p:sp>
        <p:nvSpPr>
          <p:cNvPr id="10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07A29-5399-649A-E8F9-60FE071A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utline">
            <a:extLst>
              <a:ext uri="{FF2B5EF4-FFF2-40B4-BE49-F238E27FC236}">
                <a16:creationId xmlns:a16="http://schemas.microsoft.com/office/drawing/2014/main" id="{6C2CC373-5DAD-04AF-B55D-EF354CD32F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Outline</a:t>
            </a:r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A48F9BDF-639C-D5A0-8EEB-7E5DA2C8628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93" name="Motivation…">
            <a:extLst>
              <a:ext uri="{FF2B5EF4-FFF2-40B4-BE49-F238E27FC236}">
                <a16:creationId xmlns:a16="http://schemas.microsoft.com/office/drawing/2014/main" id="{18D5A1D6-85A1-23EA-C34D-83FB4C7FA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TW" dirty="0"/>
              <a:t>Motivation</a:t>
            </a:r>
          </a:p>
          <a:p>
            <a:r>
              <a:rPr lang="en-TW" dirty="0"/>
              <a:t>Agent Sense</a:t>
            </a:r>
          </a:p>
          <a:p>
            <a:r>
              <a:rPr lang="en-TW" b="1" dirty="0"/>
              <a:t>Demo</a:t>
            </a:r>
          </a:p>
          <a:p>
            <a:r>
              <a:rPr lang="en-TW" dirty="0"/>
              <a:t>Architecture</a:t>
            </a:r>
          </a:p>
          <a:p>
            <a:r>
              <a:rPr lang="en-TW" dirty="0"/>
              <a:t>Hearing</a:t>
            </a:r>
          </a:p>
          <a:p>
            <a:r>
              <a:rPr lang="en-TW" dirty="0"/>
              <a:t>Seeing</a:t>
            </a:r>
          </a:p>
          <a:p>
            <a:r>
              <a:rPr lang="en-TW" dirty="0"/>
              <a:t>Agent Integration</a:t>
            </a:r>
          </a:p>
          <a:p>
            <a:r>
              <a:rPr lang="en-TW" dirty="0"/>
              <a:t>Future Work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52423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37A67-727C-61F5-032E-9558E887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utline">
            <a:extLst>
              <a:ext uri="{FF2B5EF4-FFF2-40B4-BE49-F238E27FC236}">
                <a16:creationId xmlns:a16="http://schemas.microsoft.com/office/drawing/2014/main" id="{49DA918D-11E1-1057-F955-DD869856F9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Outline</a:t>
            </a:r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12D9B3CC-D334-1EDD-627A-774DBC144C0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93" name="Motivation…">
            <a:extLst>
              <a:ext uri="{FF2B5EF4-FFF2-40B4-BE49-F238E27FC236}">
                <a16:creationId xmlns:a16="http://schemas.microsoft.com/office/drawing/2014/main" id="{DFC98FE5-AAFA-7FEF-0B3B-0882D8C9B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TW" dirty="0"/>
              <a:t>Motivation</a:t>
            </a:r>
          </a:p>
          <a:p>
            <a:r>
              <a:rPr lang="en-TW" dirty="0"/>
              <a:t>Agent Sense</a:t>
            </a:r>
          </a:p>
          <a:p>
            <a:r>
              <a:rPr lang="en-TW" dirty="0"/>
              <a:t>Demo</a:t>
            </a:r>
          </a:p>
          <a:p>
            <a:r>
              <a:rPr lang="en-TW" b="1" dirty="0"/>
              <a:t>Architecture</a:t>
            </a:r>
          </a:p>
          <a:p>
            <a:r>
              <a:rPr lang="en-TW" dirty="0"/>
              <a:t>Hearing</a:t>
            </a:r>
          </a:p>
          <a:p>
            <a:r>
              <a:rPr lang="en-TW" dirty="0"/>
              <a:t>Seeing</a:t>
            </a:r>
          </a:p>
          <a:p>
            <a:r>
              <a:rPr lang="en-TW" dirty="0"/>
              <a:t>Agent Integration</a:t>
            </a:r>
          </a:p>
          <a:p>
            <a:r>
              <a:rPr lang="en-TW" dirty="0"/>
              <a:t>Future Work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364338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Agents take only text and imag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TW" dirty="0"/>
              <a:t>Agent Sense Architecture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18" name="System Audio"/>
          <p:cNvSpPr/>
          <p:nvPr/>
        </p:nvSpPr>
        <p:spPr>
          <a:xfrm>
            <a:off x="1003164" y="1876331"/>
            <a:ext cx="1270001" cy="62962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r>
              <a:rPr lang="en-TW" dirty="0"/>
              <a:t>System Audio Stream</a:t>
            </a:r>
          </a:p>
        </p:txBody>
      </p:sp>
      <p:sp>
        <p:nvSpPr>
          <p:cNvPr id="119" name="zh-TW ASR"/>
          <p:cNvSpPr/>
          <p:nvPr/>
        </p:nvSpPr>
        <p:spPr>
          <a:xfrm>
            <a:off x="2605378" y="1480957"/>
            <a:ext cx="1270001" cy="62962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r>
              <a:rPr lang="en-TW" dirty="0"/>
              <a:t>zh-TW ASR</a:t>
            </a:r>
          </a:p>
        </p:txBody>
      </p:sp>
      <p:sp>
        <p:nvSpPr>
          <p:cNvPr id="120" name="en-US ASR"/>
          <p:cNvSpPr/>
          <p:nvPr/>
        </p:nvSpPr>
        <p:spPr>
          <a:xfrm>
            <a:off x="2605378" y="2268316"/>
            <a:ext cx="1270001" cy="62962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r>
              <a:rPr lang="en-TW" dirty="0"/>
              <a:t>en-US ASR</a:t>
            </a:r>
          </a:p>
        </p:txBody>
      </p:sp>
      <p:sp>
        <p:nvSpPr>
          <p:cNvPr id="121" name="Language Router"/>
          <p:cNvSpPr/>
          <p:nvPr/>
        </p:nvSpPr>
        <p:spPr>
          <a:xfrm>
            <a:off x="4207592" y="1876331"/>
            <a:ext cx="1270001" cy="62962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r>
              <a:rPr dirty="0"/>
              <a:t>Language Router</a:t>
            </a:r>
          </a:p>
        </p:txBody>
      </p:sp>
      <p:sp>
        <p:nvSpPr>
          <p:cNvPr id="122" name="Cleanup"/>
          <p:cNvSpPr/>
          <p:nvPr/>
        </p:nvSpPr>
        <p:spPr>
          <a:xfrm>
            <a:off x="5809806" y="1876331"/>
            <a:ext cx="1270001" cy="62962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r>
              <a:rPr lang="en-US" dirty="0"/>
              <a:t>Transcript</a:t>
            </a:r>
          </a:p>
          <a:p>
            <a:r>
              <a:rPr lang="en-US" dirty="0"/>
              <a:t>Post-Processor</a:t>
            </a:r>
            <a:endParaRPr lang="en-TW" dirty="0"/>
          </a:p>
        </p:txBody>
      </p:sp>
      <p:sp>
        <p:nvSpPr>
          <p:cNvPr id="123" name="Local Storage…"/>
          <p:cNvSpPr/>
          <p:nvPr/>
        </p:nvSpPr>
        <p:spPr>
          <a:xfrm>
            <a:off x="7412020" y="1628210"/>
            <a:ext cx="1557644" cy="1125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/>
            <a:endParaRPr dirty="0"/>
          </a:p>
          <a:p>
            <a:pPr algn="ctr"/>
            <a:r>
              <a:rPr lang="en-TW" dirty="0"/>
              <a:t>Transcript Store</a:t>
            </a:r>
          </a:p>
        </p:txBody>
      </p:sp>
      <p:sp>
        <p:nvSpPr>
          <p:cNvPr id="124" name="Apple AX…"/>
          <p:cNvSpPr/>
          <p:nvPr/>
        </p:nvSpPr>
        <p:spPr>
          <a:xfrm>
            <a:off x="4634649" y="3406435"/>
            <a:ext cx="2438142" cy="8536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/>
            <a:r>
              <a:rPr lang="en-TW" dirty="0"/>
              <a:t>Apple Accessibility API</a:t>
            </a:r>
          </a:p>
          <a:p>
            <a:pPr algn="ctr"/>
            <a:r>
              <a:rPr lang="en-TW" dirty="0"/>
              <a:t>UI Element Selection</a:t>
            </a:r>
          </a:p>
        </p:txBody>
      </p:sp>
      <p:sp>
        <p:nvSpPr>
          <p:cNvPr id="125" name="Region Screenshot"/>
          <p:cNvSpPr/>
          <p:nvPr/>
        </p:nvSpPr>
        <p:spPr>
          <a:xfrm>
            <a:off x="4634649" y="4459909"/>
            <a:ext cx="2438142" cy="62962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r>
              <a:rPr lang="en-TW" dirty="0"/>
              <a:t>Screen Region Selection</a:t>
            </a:r>
          </a:p>
        </p:txBody>
      </p:sp>
      <p:sp>
        <p:nvSpPr>
          <p:cNvPr id="126" name="Captured chips…"/>
          <p:cNvSpPr/>
          <p:nvPr/>
        </p:nvSpPr>
        <p:spPr>
          <a:xfrm>
            <a:off x="7397280" y="3774286"/>
            <a:ext cx="1557644" cy="8536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/>
            <a:r>
              <a:rPr lang="en-TW" dirty="0"/>
              <a:t>Visual Context</a:t>
            </a:r>
          </a:p>
          <a:p>
            <a:pPr algn="ctr"/>
            <a:r>
              <a:rPr dirty="0"/>
              <a:t>(text / image)</a:t>
            </a:r>
          </a:p>
        </p:txBody>
      </p:sp>
      <p:sp>
        <p:nvSpPr>
          <p:cNvPr id="127" name="Initial Prompt…"/>
          <p:cNvSpPr/>
          <p:nvPr/>
        </p:nvSpPr>
        <p:spPr>
          <a:xfrm>
            <a:off x="6076128" y="5464187"/>
            <a:ext cx="3017082" cy="8536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/>
            <a:r>
              <a:rPr lang="en-TW" dirty="0"/>
              <a:t>Agent Init Prompt</a:t>
            </a:r>
            <a:br>
              <a:rPr lang="en-TW" dirty="0"/>
            </a:br>
            <a:r>
              <a:rPr lang="en-TW" dirty="0"/>
              <a:t>(context paths and usage rules)</a:t>
            </a:r>
          </a:p>
        </p:txBody>
      </p:sp>
      <p:sp>
        <p:nvSpPr>
          <p:cNvPr id="129" name="ASR: Automaitc Speech Recognition"/>
          <p:cNvSpPr txBox="1"/>
          <p:nvPr/>
        </p:nvSpPr>
        <p:spPr>
          <a:xfrm>
            <a:off x="692045" y="6049688"/>
            <a:ext cx="270202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ASR: </a:t>
            </a:r>
            <a:r>
              <a:rPr lang="en-US" dirty="0"/>
              <a:t>Automatic</a:t>
            </a:r>
            <a:r>
              <a:rPr dirty="0"/>
              <a:t> Speech Recognition</a:t>
            </a:r>
          </a:p>
        </p:txBody>
      </p:sp>
      <p:sp>
        <p:nvSpPr>
          <p:cNvPr id="130" name="Rectangle"/>
          <p:cNvSpPr/>
          <p:nvPr/>
        </p:nvSpPr>
        <p:spPr>
          <a:xfrm>
            <a:off x="897624" y="1206807"/>
            <a:ext cx="8206965" cy="1831377"/>
          </a:xfrm>
          <a:prstGeom prst="rect">
            <a:avLst/>
          </a:prstGeom>
          <a:ln w="25400" cmpd="sng">
            <a:solidFill>
              <a:schemeClr val="accent1"/>
            </a:solidFill>
            <a:prstDash val="dash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Rectangle"/>
          <p:cNvSpPr/>
          <p:nvPr/>
        </p:nvSpPr>
        <p:spPr>
          <a:xfrm>
            <a:off x="4450813" y="3246366"/>
            <a:ext cx="4653775" cy="2017948"/>
          </a:xfrm>
          <a:prstGeom prst="rect">
            <a:avLst/>
          </a:prstGeom>
          <a:ln w="25400">
            <a:solidFill>
              <a:schemeClr val="accent1"/>
            </a:solidFill>
            <a:prstDash val="dash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32" name="Hearing"/>
          <p:cNvSpPr txBox="1"/>
          <p:nvPr/>
        </p:nvSpPr>
        <p:spPr>
          <a:xfrm>
            <a:off x="8430098" y="1219277"/>
            <a:ext cx="668448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Hearing</a:t>
            </a:r>
          </a:p>
        </p:txBody>
      </p:sp>
      <p:sp>
        <p:nvSpPr>
          <p:cNvPr id="133" name="Seeing"/>
          <p:cNvSpPr txBox="1"/>
          <p:nvPr/>
        </p:nvSpPr>
        <p:spPr>
          <a:xfrm>
            <a:off x="8515420" y="3248534"/>
            <a:ext cx="58067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Seeing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0786C83-081E-0B99-BADA-F7D4201371A3}"/>
              </a:ext>
            </a:extLst>
          </p:cNvPr>
          <p:cNvCxnSpPr>
            <a:cxnSpLocks/>
            <a:stCxn id="121" idx="3"/>
            <a:endCxn id="122" idx="1"/>
          </p:cNvCxnSpPr>
          <p:nvPr/>
        </p:nvCxnSpPr>
        <p:spPr>
          <a:xfrm>
            <a:off x="5477593" y="2191143"/>
            <a:ext cx="332213" cy="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163D964-4559-547E-6304-49943D00F445}"/>
              </a:ext>
            </a:extLst>
          </p:cNvPr>
          <p:cNvCxnSpPr>
            <a:cxnSpLocks/>
            <a:stCxn id="118" idx="3"/>
            <a:endCxn id="119" idx="1"/>
          </p:cNvCxnSpPr>
          <p:nvPr/>
        </p:nvCxnSpPr>
        <p:spPr>
          <a:xfrm flipV="1">
            <a:off x="2273165" y="1795769"/>
            <a:ext cx="332213" cy="395374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5750CE92-EC9A-4DA4-2EE2-F65EC328ABE1}"/>
              </a:ext>
            </a:extLst>
          </p:cNvPr>
          <p:cNvCxnSpPr>
            <a:cxnSpLocks/>
            <a:stCxn id="118" idx="3"/>
            <a:endCxn id="120" idx="1"/>
          </p:cNvCxnSpPr>
          <p:nvPr/>
        </p:nvCxnSpPr>
        <p:spPr>
          <a:xfrm>
            <a:off x="2273165" y="2191143"/>
            <a:ext cx="332213" cy="391985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4D6D475A-B0F7-62E4-F570-F2EC007522B2}"/>
              </a:ext>
            </a:extLst>
          </p:cNvPr>
          <p:cNvCxnSpPr>
            <a:cxnSpLocks/>
            <a:stCxn id="120" idx="3"/>
            <a:endCxn id="121" idx="1"/>
          </p:cNvCxnSpPr>
          <p:nvPr/>
        </p:nvCxnSpPr>
        <p:spPr>
          <a:xfrm flipV="1">
            <a:off x="3875379" y="2191143"/>
            <a:ext cx="332213" cy="391985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60E68C8A-AE32-239C-FD77-FBA3726634D7}"/>
              </a:ext>
            </a:extLst>
          </p:cNvPr>
          <p:cNvCxnSpPr>
            <a:cxnSpLocks/>
            <a:stCxn id="119" idx="3"/>
            <a:endCxn id="121" idx="1"/>
          </p:cNvCxnSpPr>
          <p:nvPr/>
        </p:nvCxnSpPr>
        <p:spPr>
          <a:xfrm>
            <a:off x="3875379" y="1795769"/>
            <a:ext cx="332213" cy="395374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C421BF5-77CA-CB76-C321-53776BAF02A7}"/>
              </a:ext>
            </a:extLst>
          </p:cNvPr>
          <p:cNvCxnSpPr>
            <a:cxnSpLocks/>
            <a:stCxn id="122" idx="3"/>
          </p:cNvCxnSpPr>
          <p:nvPr/>
        </p:nvCxnSpPr>
        <p:spPr>
          <a:xfrm flipV="1">
            <a:off x="7079807" y="2191142"/>
            <a:ext cx="332213" cy="1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034B1D80-0BC7-7F9C-A0F5-2A6739EA1ADD}"/>
              </a:ext>
            </a:extLst>
          </p:cNvPr>
          <p:cNvCxnSpPr>
            <a:cxnSpLocks/>
            <a:stCxn id="130" idx="3"/>
          </p:cNvCxnSpPr>
          <p:nvPr/>
        </p:nvCxnSpPr>
        <p:spPr>
          <a:xfrm>
            <a:off x="9104589" y="2122496"/>
            <a:ext cx="482033" cy="2074293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28D7EF91-752C-D5E6-4577-4E6317A6B8A8}"/>
              </a:ext>
            </a:extLst>
          </p:cNvPr>
          <p:cNvCxnSpPr>
            <a:cxnSpLocks/>
            <a:stCxn id="127" idx="3"/>
            <a:endCxn id="49" idx="1"/>
          </p:cNvCxnSpPr>
          <p:nvPr/>
        </p:nvCxnSpPr>
        <p:spPr>
          <a:xfrm flipV="1">
            <a:off x="9093210" y="4196789"/>
            <a:ext cx="501905" cy="1694199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FE2EC8-0F25-D906-9B17-5B4A8F7E02B2}"/>
              </a:ext>
            </a:extLst>
          </p:cNvPr>
          <p:cNvCxnSpPr>
            <a:cxnSpLocks/>
            <a:stCxn id="126" idx="3"/>
          </p:cNvCxnSpPr>
          <p:nvPr/>
        </p:nvCxnSpPr>
        <p:spPr>
          <a:xfrm flipV="1">
            <a:off x="8954924" y="4196789"/>
            <a:ext cx="631698" cy="4298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F47D2C25-AD5D-6E47-03C3-0DC9074633A3}"/>
              </a:ext>
            </a:extLst>
          </p:cNvPr>
          <p:cNvCxnSpPr>
            <a:cxnSpLocks/>
            <a:stCxn id="124" idx="3"/>
            <a:endCxn id="126" idx="1"/>
          </p:cNvCxnSpPr>
          <p:nvPr/>
        </p:nvCxnSpPr>
        <p:spPr>
          <a:xfrm>
            <a:off x="7072791" y="3833236"/>
            <a:ext cx="324489" cy="367851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AF2BC4B5-450F-954F-8CCC-C3597280515F}"/>
              </a:ext>
            </a:extLst>
          </p:cNvPr>
          <p:cNvCxnSpPr>
            <a:cxnSpLocks/>
            <a:stCxn id="125" idx="3"/>
            <a:endCxn id="126" idx="1"/>
          </p:cNvCxnSpPr>
          <p:nvPr/>
        </p:nvCxnSpPr>
        <p:spPr>
          <a:xfrm flipV="1">
            <a:off x="7072791" y="4201087"/>
            <a:ext cx="324489" cy="573634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9" name="Captured chips…">
            <a:extLst>
              <a:ext uri="{FF2B5EF4-FFF2-40B4-BE49-F238E27FC236}">
                <a16:creationId xmlns:a16="http://schemas.microsoft.com/office/drawing/2014/main" id="{CB413558-3EEE-9D23-4E75-1E375755735A}"/>
              </a:ext>
            </a:extLst>
          </p:cNvPr>
          <p:cNvSpPr/>
          <p:nvPr/>
        </p:nvSpPr>
        <p:spPr>
          <a:xfrm>
            <a:off x="9595115" y="3769988"/>
            <a:ext cx="1797950" cy="8536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/>
            <a:r>
              <a:rPr lang="en-TW" dirty="0"/>
              <a:t>Agent</a:t>
            </a:r>
          </a:p>
          <a:p>
            <a:pPr algn="ctr"/>
            <a:r>
              <a:rPr lang="en-US" dirty="0"/>
              <a:t>(Codex)</a:t>
            </a:r>
            <a:endParaRPr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A9E9-89F2-1A8D-B5D6-F8521551D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utline">
            <a:extLst>
              <a:ext uri="{FF2B5EF4-FFF2-40B4-BE49-F238E27FC236}">
                <a16:creationId xmlns:a16="http://schemas.microsoft.com/office/drawing/2014/main" id="{3157C8E6-D7DF-6C45-7141-2850CF26F0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Outline</a:t>
            </a:r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FAC8A1C4-FC53-928E-2FE2-22D0D5CFD5A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93" name="Motivation…">
            <a:extLst>
              <a:ext uri="{FF2B5EF4-FFF2-40B4-BE49-F238E27FC236}">
                <a16:creationId xmlns:a16="http://schemas.microsoft.com/office/drawing/2014/main" id="{6278A975-3C8D-13B8-4BD5-FCA8CE693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TW" dirty="0"/>
              <a:t>Motivation</a:t>
            </a:r>
          </a:p>
          <a:p>
            <a:r>
              <a:rPr lang="en-TW" dirty="0"/>
              <a:t>Agent Sense</a:t>
            </a:r>
          </a:p>
          <a:p>
            <a:r>
              <a:rPr lang="en-TW" dirty="0"/>
              <a:t>Demo</a:t>
            </a:r>
          </a:p>
          <a:p>
            <a:r>
              <a:rPr lang="en-TW" dirty="0"/>
              <a:t>Architecture</a:t>
            </a:r>
          </a:p>
          <a:p>
            <a:r>
              <a:rPr lang="en-TW" b="1" dirty="0"/>
              <a:t>Hearing</a:t>
            </a:r>
          </a:p>
          <a:p>
            <a:r>
              <a:rPr lang="en-TW" dirty="0"/>
              <a:t>Seeing</a:t>
            </a:r>
          </a:p>
          <a:p>
            <a:r>
              <a:rPr lang="en-TW" dirty="0"/>
              <a:t>Agent Integration</a:t>
            </a:r>
          </a:p>
          <a:p>
            <a:r>
              <a:rPr lang="en-TW" dirty="0"/>
              <a:t>Future Work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184567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ranscription Pipe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Hearing</a:t>
            </a:r>
            <a:r>
              <a:rPr dirty="0"/>
              <a:t> Pipeline</a:t>
            </a:r>
          </a:p>
        </p:txBody>
      </p:sp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41" name="Input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TW" dirty="0"/>
              <a:t>System Audio Stream</a:t>
            </a:r>
            <a:r>
              <a:rPr dirty="0"/>
              <a:t>:</a:t>
            </a:r>
          </a:p>
          <a:p>
            <a:pPr lvl="1">
              <a:buChar char="●"/>
            </a:pPr>
            <a:r>
              <a:rPr lang="en-US" dirty="0"/>
              <a:t>Captures system audio in real time</a:t>
            </a:r>
            <a:endParaRPr dirty="0"/>
          </a:p>
          <a:p>
            <a:r>
              <a:rPr lang="en-TW" dirty="0"/>
              <a:t>ASR</a:t>
            </a:r>
            <a:r>
              <a:rPr dirty="0"/>
              <a:t>:</a:t>
            </a:r>
          </a:p>
          <a:p>
            <a:pPr lvl="1">
              <a:buFont typeface="Calibri"/>
              <a:buChar char="●"/>
            </a:pPr>
            <a:r>
              <a:rPr lang="en-TW" dirty="0"/>
              <a:t>Transcribe speech to text on device with Apple SpeechTranscriber</a:t>
            </a:r>
            <a:endParaRPr lang="en-US" dirty="0"/>
          </a:p>
          <a:p>
            <a:pPr lvl="1">
              <a:buFont typeface="Calibri"/>
              <a:buChar char="●"/>
            </a:pPr>
            <a:r>
              <a:rPr lang="en-TW" dirty="0"/>
              <a:t>Run zh-TW and en-US recognizers in parallel on the same audio</a:t>
            </a:r>
            <a:endParaRPr dirty="0"/>
          </a:p>
          <a:p>
            <a:r>
              <a:rPr lang="en-US" dirty="0"/>
              <a:t>Language Router</a:t>
            </a:r>
            <a:r>
              <a:rPr dirty="0"/>
              <a:t>:</a:t>
            </a:r>
          </a:p>
          <a:p>
            <a:pPr lvl="1">
              <a:buFont typeface="Calibri"/>
              <a:buChar char="●"/>
            </a:pPr>
            <a:r>
              <a:rPr lang="en-TW" dirty="0"/>
              <a:t>Selects the active language using confidence scores</a:t>
            </a:r>
            <a:endParaRPr lang="en-US" dirty="0"/>
          </a:p>
          <a:p>
            <a:r>
              <a:rPr lang="en-TW" dirty="0"/>
              <a:t>Transcript Post-Processor:</a:t>
            </a:r>
            <a:endParaRPr lang="en-US" dirty="0"/>
          </a:p>
          <a:p>
            <a:pPr lvl="1">
              <a:buFont typeface="Calibri"/>
              <a:buChar char="●"/>
            </a:pPr>
            <a:r>
              <a:rPr lang="en-TW" dirty="0"/>
              <a:t>Fixes punctuation and recognition errors with a small model</a:t>
            </a:r>
            <a:r>
              <a:rPr lang="en-US" dirty="0"/>
              <a:t> (gpt-5.4-nano)</a:t>
            </a:r>
          </a:p>
          <a:p>
            <a:pPr lvl="1">
              <a:buFont typeface="Calibri"/>
              <a:buChar char="●"/>
            </a:pPr>
            <a:r>
              <a:rPr lang="en-US" dirty="0"/>
              <a:t>Uses deterministic code for paragraph breaks</a:t>
            </a:r>
            <a:endParaRPr dirty="0"/>
          </a:p>
        </p:txBody>
      </p:sp>
      <p:sp>
        <p:nvSpPr>
          <p:cNvPr id="142" name="ASR: Automaitc Speech Recognition"/>
          <p:cNvSpPr txBox="1"/>
          <p:nvPr/>
        </p:nvSpPr>
        <p:spPr>
          <a:xfrm>
            <a:off x="8941604" y="1145877"/>
            <a:ext cx="270202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ASR: </a:t>
            </a:r>
            <a:r>
              <a:rPr lang="en-US" dirty="0"/>
              <a:t>Automatic</a:t>
            </a:r>
            <a:r>
              <a:rPr dirty="0"/>
              <a:t> Speech Recognition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3444B-C685-3875-7F7B-ABCC0648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ranscription Pipeline">
            <a:extLst>
              <a:ext uri="{FF2B5EF4-FFF2-40B4-BE49-F238E27FC236}">
                <a16:creationId xmlns:a16="http://schemas.microsoft.com/office/drawing/2014/main" id="{7C2EB981-15F4-DF3F-8432-0A6DE256F4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Apple </a:t>
            </a:r>
            <a:r>
              <a:rPr lang="en-US" dirty="0" err="1"/>
              <a:t>SpeechTranscriber</a:t>
            </a:r>
            <a:endParaRPr dirty="0"/>
          </a:p>
        </p:txBody>
      </p:sp>
      <p:sp>
        <p:nvSpPr>
          <p:cNvPr id="140" name="Slide Number">
            <a:extLst>
              <a:ext uri="{FF2B5EF4-FFF2-40B4-BE49-F238E27FC236}">
                <a16:creationId xmlns:a16="http://schemas.microsoft.com/office/drawing/2014/main" id="{62E55ECD-5CA2-3742-7AC5-7F282671191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41" name="Input:…">
            <a:extLst>
              <a:ext uri="{FF2B5EF4-FFF2-40B4-BE49-F238E27FC236}">
                <a16:creationId xmlns:a16="http://schemas.microsoft.com/office/drawing/2014/main" id="{D2A3FE49-0487-12B2-C40E-08A97BFB73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TW" dirty="0"/>
              <a:t>Provides on-device speech recognition on macOS</a:t>
            </a:r>
            <a:endParaRPr lang="en-US" dirty="0"/>
          </a:p>
          <a:p>
            <a:r>
              <a:rPr lang="en-TW" dirty="0"/>
              <a:t>Runs in a system process outside the application</a:t>
            </a:r>
            <a:endParaRPr lang="en-US" dirty="0"/>
          </a:p>
          <a:p>
            <a:r>
              <a:rPr lang="en-TW" dirty="0"/>
              <a:t>Executes on the Apple Neural Engine</a:t>
            </a:r>
            <a:endParaRPr lang="en-US" dirty="0"/>
          </a:p>
          <a:p>
            <a:r>
              <a:rPr lang="en-TW" dirty="0"/>
              <a:t>Returns recognized words with confidence scores and timestamps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841545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anguage Rou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Language </a:t>
            </a:r>
            <a:r>
              <a:rPr lang="en-US" dirty="0"/>
              <a:t>Router</a:t>
            </a:r>
            <a:endParaRPr dirty="0"/>
          </a:p>
        </p:txBody>
      </p:sp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52" name="ASR Output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ASR Output:</a:t>
            </a:r>
          </a:p>
          <a:p>
            <a:pPr lvl="1">
              <a:buFont typeface="Calibri"/>
              <a:buChar char="●"/>
            </a:pPr>
            <a:r>
              <a:rPr lang="en-TW" dirty="0"/>
              <a:t>zh-TW and en-US recognizers transcribe the same audio in parallel</a:t>
            </a:r>
            <a:endParaRPr lang="en-US" dirty="0"/>
          </a:p>
          <a:p>
            <a:pPr lvl="1">
              <a:buFont typeface="Calibri"/>
              <a:buChar char="●"/>
            </a:pPr>
            <a:r>
              <a:rPr lang="en-TW" dirty="0"/>
              <a:t>Each recognized word includes a confidence score</a:t>
            </a:r>
            <a:endParaRPr lang="en-US" dirty="0"/>
          </a:p>
          <a:p>
            <a:r>
              <a:rPr lang="en-US" dirty="0"/>
              <a:t>Language Selection:</a:t>
            </a:r>
          </a:p>
          <a:p>
            <a:pPr lvl="1">
              <a:buChar char="●"/>
            </a:pPr>
            <a:r>
              <a:rPr lang="en-US" dirty="0"/>
              <a:t>Average word confidences into one score per sentence </a:t>
            </a:r>
          </a:p>
          <a:p>
            <a:pPr lvl="1">
              <a:buFont typeface="Calibri"/>
              <a:buChar char="●"/>
            </a:pPr>
            <a:r>
              <a:rPr lang="en-TW" dirty="0"/>
              <a:t>Tracks each language with an exponential moving average (EMA)</a:t>
            </a:r>
            <a:endParaRPr lang="en-US" dirty="0"/>
          </a:p>
          <a:p>
            <a:pPr lvl="1">
              <a:buFont typeface="Calibri"/>
              <a:buChar char="●"/>
            </a:pPr>
            <a:r>
              <a:rPr lang="en-TW" dirty="0"/>
              <a:t>Switches language only when the confidence gap passes a margin</a:t>
            </a:r>
            <a:r>
              <a:rPr lang="en-US" dirty="0"/>
              <a:t> (hysteresis)</a:t>
            </a:r>
          </a:p>
          <a:p>
            <a:pPr lvl="1">
              <a:buChar char="●"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D620D7-1F22-12A2-1A17-3A14A3304C34}"/>
                  </a:ext>
                </a:extLst>
              </p:cNvPr>
              <p:cNvSpPr txBox="1"/>
              <p:nvPr/>
            </p:nvSpPr>
            <p:spPr>
              <a:xfrm>
                <a:off x="5777013" y="4557286"/>
                <a:ext cx="4749568" cy="43768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EMA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TW" alt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en-US" sz="2000" i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D620D7-1F22-12A2-1A17-3A14A3304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013" y="4557286"/>
                <a:ext cx="4749568" cy="437682"/>
              </a:xfrm>
              <a:prstGeom prst="rect">
                <a:avLst/>
              </a:prstGeom>
              <a:blipFill>
                <a:blip r:embed="rId3"/>
                <a:stretch>
                  <a:fillRect b="-2285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C692CA-E091-DCE6-BA2E-407879FA535F}"/>
                  </a:ext>
                </a:extLst>
              </p:cNvPr>
              <p:cNvSpPr txBox="1"/>
              <p:nvPr/>
            </p:nvSpPr>
            <p:spPr>
              <a:xfrm>
                <a:off x="5777013" y="5227022"/>
                <a:ext cx="4970269" cy="45544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hysteresis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cand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active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sz="2000" i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C692CA-E091-DCE6-BA2E-407879FA5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013" y="5227022"/>
                <a:ext cx="4970269" cy="455444"/>
              </a:xfrm>
              <a:prstGeom prst="rect">
                <a:avLst/>
              </a:prstGeom>
              <a:blipFill>
                <a:blip r:embed="rId4"/>
                <a:stretch>
                  <a:fillRect l="-510" b="-1891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E531F0-825B-44F8-DC16-E07BFADCCA56}"/>
                  </a:ext>
                </a:extLst>
              </p:cNvPr>
              <p:cNvSpPr txBox="1"/>
              <p:nvPr/>
            </p:nvSpPr>
            <p:spPr>
              <a:xfrm>
                <a:off x="1046371" y="4492559"/>
                <a:ext cx="4358947" cy="14689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&amp;: 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confidence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latest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sentence</m:t>
                          </m:r>
                        </m:e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&amp;: 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updated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running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score</m:t>
                          </m:r>
                        </m:e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&amp;: 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previous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running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score</m:t>
                          </m:r>
                        </m: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=0.7&amp;: 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weight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on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newest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sentence</m:t>
                          </m:r>
                        </m: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=0.05&amp;: 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hysteresis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margin</m:t>
                          </m:r>
                        </m:e>
                      </m:eqArr>
                    </m:oMath>
                  </m:oMathPara>
                </a14:m>
                <a:endParaRPr lang="en-US" sz="1800" i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E531F0-825B-44F8-DC16-E07BFADCC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371" y="4492559"/>
                <a:ext cx="4358947" cy="1468926"/>
              </a:xfrm>
              <a:prstGeom prst="rect">
                <a:avLst/>
              </a:prstGeom>
              <a:blipFill>
                <a:blip r:embed="rId5"/>
                <a:stretch>
                  <a:fillRect b="-341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6F48F-C479-3375-5018-5D04C9B7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anguage Routing">
            <a:extLst>
              <a:ext uri="{FF2B5EF4-FFF2-40B4-BE49-F238E27FC236}">
                <a16:creationId xmlns:a16="http://schemas.microsoft.com/office/drawing/2014/main" id="{11962F85-FBCB-1713-8064-1B1C82D460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Transcript</a:t>
            </a:r>
            <a:r>
              <a:rPr lang="zh-TW" altLang="en-US" dirty="0"/>
              <a:t> </a:t>
            </a:r>
            <a:r>
              <a:rPr lang="en-US" dirty="0"/>
              <a:t>Post-Processor</a:t>
            </a:r>
            <a:endParaRPr lang="en-TW" dirty="0"/>
          </a:p>
        </p:txBody>
      </p:sp>
      <p:sp>
        <p:nvSpPr>
          <p:cNvPr id="151" name="Slide Number">
            <a:extLst>
              <a:ext uri="{FF2B5EF4-FFF2-40B4-BE49-F238E27FC236}">
                <a16:creationId xmlns:a16="http://schemas.microsoft.com/office/drawing/2014/main" id="{FF848630-7AC7-B1D2-A93B-5A69BD58CFD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52" name="ASR Output:…">
            <a:extLst>
              <a:ext uri="{FF2B5EF4-FFF2-40B4-BE49-F238E27FC236}">
                <a16:creationId xmlns:a16="http://schemas.microsoft.com/office/drawing/2014/main" id="{7D0915C7-16FB-1632-6A86-275D6C103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TW" dirty="0"/>
              <a:t>Post-processing steps:</a:t>
            </a:r>
            <a:endParaRPr lang="en-US" dirty="0"/>
          </a:p>
          <a:p>
            <a:pPr lvl="1">
              <a:buChar char="●"/>
            </a:pPr>
            <a:r>
              <a:rPr lang="en-US" dirty="0"/>
              <a:t>Cleanup: a small model (gpt-5.4-nano) fixes punctuation and recognition errors</a:t>
            </a:r>
          </a:p>
          <a:p>
            <a:pPr lvl="1">
              <a:buChar char="●"/>
            </a:pPr>
            <a:r>
              <a:rPr lang="en-US" dirty="0"/>
              <a:t>Structure: deterministic code handles paragraph breaks</a:t>
            </a:r>
          </a:p>
          <a:p>
            <a:pPr lvl="1">
              <a:buChar char="●"/>
            </a:pPr>
            <a:r>
              <a:rPr lang="en-US" dirty="0"/>
              <a:t>Translation: foreign-language passages are translated into Chinese</a:t>
            </a:r>
          </a:p>
          <a:p>
            <a:r>
              <a:rPr lang="en-TW" dirty="0"/>
              <a:t>Estimated cost per 10-minute video:</a:t>
            </a:r>
            <a:endParaRPr lang="en-US" dirty="0"/>
          </a:p>
          <a:p>
            <a:pPr lvl="1">
              <a:buChar char="●"/>
            </a:pPr>
            <a:r>
              <a:rPr lang="en-US" dirty="0"/>
              <a:t>Cleanup: about $0.01</a:t>
            </a:r>
          </a:p>
          <a:p>
            <a:pPr lvl="1">
              <a:buChar char="●"/>
            </a:pPr>
            <a:r>
              <a:rPr lang="en-US" dirty="0"/>
              <a:t>Structure: $0, handled by local deterministic code</a:t>
            </a:r>
          </a:p>
          <a:p>
            <a:pPr lvl="1">
              <a:buChar char="●"/>
            </a:pPr>
            <a:r>
              <a:rPr lang="en-US" dirty="0"/>
              <a:t>Translation: about $0.01, only for foreign-language segments</a:t>
            </a:r>
          </a:p>
          <a:p>
            <a:pPr lvl="1">
              <a:buChar char="●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21810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rsor-Based Focus Sele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Transcript Store</a:t>
            </a:r>
            <a:endParaRPr dirty="0"/>
          </a:p>
        </p:txBody>
      </p:sp>
      <p:sp>
        <p:nvSpPr>
          <p:cNvPr id="1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166" name="Cursor shaking opens the focus selecto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Structure</a:t>
            </a:r>
            <a:endParaRPr dirty="0"/>
          </a:p>
          <a:p>
            <a:pPr lvl="1">
              <a:buFont typeface="Calibri"/>
              <a:buChar char="●"/>
            </a:pPr>
            <a:r>
              <a:rPr lang="en-TW" dirty="0"/>
              <a:t>One Markdown file per day: ~/.agent/transcripts/YYYY-MM-DD.md</a:t>
            </a:r>
            <a:endParaRPr dirty="0"/>
          </a:p>
          <a:p>
            <a:pPr lvl="1">
              <a:buFont typeface="Calibri"/>
              <a:buChar char="●"/>
            </a:pPr>
            <a:r>
              <a:rPr lang="en-TW" dirty="0"/>
              <a:t>Each segment starts with [HH:mm], application name, and window title</a:t>
            </a:r>
            <a:endParaRPr dirty="0"/>
          </a:p>
          <a:p>
            <a:pPr lvl="1">
              <a:buFont typeface="Calibri"/>
              <a:buChar char="●"/>
            </a:pPr>
            <a:r>
              <a:rPr lang="en-TW" dirty="0"/>
              <a:t>New segments are appended after cleanup without rewriting existing entries</a:t>
            </a:r>
          </a:p>
          <a:p>
            <a:pPr lvl="1">
              <a:buFont typeface="Calibri"/>
              <a:buChar char="●"/>
            </a:pPr>
            <a:endParaRPr lang="en-TW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A251A0-86EB-71F5-58EC-4F41CED1F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2329" y="2633991"/>
            <a:ext cx="7127342" cy="448126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31D58-D46D-ECEA-65EC-D7148C623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utline">
            <a:extLst>
              <a:ext uri="{FF2B5EF4-FFF2-40B4-BE49-F238E27FC236}">
                <a16:creationId xmlns:a16="http://schemas.microsoft.com/office/drawing/2014/main" id="{D50B1079-3608-46B0-A105-86A7680CD0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Outline</a:t>
            </a:r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943A5AA4-5DBA-9398-708B-6B58E774836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93" name="Motivation…">
            <a:extLst>
              <a:ext uri="{FF2B5EF4-FFF2-40B4-BE49-F238E27FC236}">
                <a16:creationId xmlns:a16="http://schemas.microsoft.com/office/drawing/2014/main" id="{DFC67A04-1CA5-2384-95BB-6E2919FC68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TW" dirty="0"/>
              <a:t>Motivation</a:t>
            </a:r>
          </a:p>
          <a:p>
            <a:r>
              <a:rPr lang="en-TW" dirty="0"/>
              <a:t>Agent Sense</a:t>
            </a:r>
          </a:p>
          <a:p>
            <a:r>
              <a:rPr lang="en-TW" dirty="0"/>
              <a:t>Demo</a:t>
            </a:r>
          </a:p>
          <a:p>
            <a:r>
              <a:rPr lang="en-TW" dirty="0"/>
              <a:t>Architecture</a:t>
            </a:r>
          </a:p>
          <a:p>
            <a:r>
              <a:rPr lang="en-TW" dirty="0"/>
              <a:t>Hearing</a:t>
            </a:r>
          </a:p>
          <a:p>
            <a:r>
              <a:rPr lang="en-TW" b="1" dirty="0"/>
              <a:t>Seeing</a:t>
            </a:r>
          </a:p>
          <a:p>
            <a:r>
              <a:rPr lang="en-TW" dirty="0"/>
              <a:t>Agent Integration</a:t>
            </a:r>
          </a:p>
          <a:p>
            <a:r>
              <a:rPr lang="en-TW" dirty="0"/>
              <a:t>Future Work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287721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Accessibility API as the Agent’s Ey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Apple </a:t>
            </a:r>
            <a:r>
              <a:rPr dirty="0"/>
              <a:t>Accessibility API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170" name="Accessibility was originally built for assistive technologi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TW" dirty="0"/>
              <a:t>What Apple Accessibility provides:</a:t>
            </a:r>
            <a:endParaRPr lang="en-US" dirty="0"/>
          </a:p>
          <a:p>
            <a:pPr lvl="1">
              <a:buFont typeface="Calibri"/>
              <a:buChar char="●"/>
            </a:pPr>
            <a:r>
              <a:rPr lang="en-US" dirty="0"/>
              <a:t>Provides</a:t>
            </a:r>
            <a:r>
              <a:rPr lang="en-TW" dirty="0"/>
              <a:t> the structure of macOS </a:t>
            </a:r>
            <a:r>
              <a:rPr lang="en-US" dirty="0"/>
              <a:t>UI</a:t>
            </a:r>
            <a:endParaRPr lang="en-TW" dirty="0"/>
          </a:p>
          <a:p>
            <a:pPr lvl="1">
              <a:buFont typeface="Calibri"/>
              <a:buChar char="●"/>
            </a:pPr>
            <a:r>
              <a:rPr lang="en-US" dirty="0"/>
              <a:t>Provides UI metadata such as role, title, value, and bounds</a:t>
            </a:r>
          </a:p>
          <a:p>
            <a:pPr lvl="1">
              <a:buFont typeface="Calibri"/>
              <a:buChar char="●"/>
            </a:pPr>
            <a:r>
              <a:rPr lang="en-US" dirty="0"/>
              <a:t>Supports assistive technologies such as </a:t>
            </a:r>
            <a:r>
              <a:rPr lang="en-US" dirty="0" err="1"/>
              <a:t>VoiceOver</a:t>
            </a:r>
            <a:endParaRPr lang="en-US" dirty="0"/>
          </a:p>
          <a:p>
            <a:endParaRPr lang="en-US" dirty="0"/>
          </a:p>
          <a:p>
            <a:r>
              <a:rPr lang="en-US" dirty="0"/>
              <a:t>How Agent Sense uses it:</a:t>
            </a:r>
            <a:endParaRPr dirty="0"/>
          </a:p>
          <a:p>
            <a:pPr lvl="1">
              <a:buFont typeface="Calibri"/>
              <a:buChar char="●"/>
            </a:pPr>
            <a:r>
              <a:rPr lang="en-US" dirty="0"/>
              <a:t>Finds the UI element under the cursor</a:t>
            </a:r>
          </a:p>
          <a:p>
            <a:pPr lvl="1">
              <a:buFont typeface="Calibri"/>
              <a:buChar char="●"/>
            </a:pPr>
            <a:r>
              <a:rPr lang="en-US" dirty="0"/>
              <a:t>Uses bounds to locate the element on screen</a:t>
            </a:r>
          </a:p>
          <a:p>
            <a:pPr lvl="1">
              <a:buFont typeface="Calibri"/>
              <a:buChar char="●"/>
            </a:pPr>
            <a:r>
              <a:rPr lang="en-US" dirty="0"/>
              <a:t>Uses titles, labels, and values to understand the element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64DDB-EDB0-A52F-263F-EC7ECACF7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utline">
            <a:extLst>
              <a:ext uri="{FF2B5EF4-FFF2-40B4-BE49-F238E27FC236}">
                <a16:creationId xmlns:a16="http://schemas.microsoft.com/office/drawing/2014/main" id="{5A98CE3B-EA61-238E-76BE-CBEA6933FA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Outline</a:t>
            </a:r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6431DA1B-8333-476E-38F9-C0A0B23F332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93" name="Motivation…">
            <a:extLst>
              <a:ext uri="{FF2B5EF4-FFF2-40B4-BE49-F238E27FC236}">
                <a16:creationId xmlns:a16="http://schemas.microsoft.com/office/drawing/2014/main" id="{A5E398DF-692B-A4E5-4915-0BF7C0338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TW" dirty="0"/>
              <a:t>Motivation</a:t>
            </a:r>
          </a:p>
          <a:p>
            <a:r>
              <a:rPr lang="en-TW" dirty="0"/>
              <a:t>Agent Sense</a:t>
            </a:r>
          </a:p>
          <a:p>
            <a:r>
              <a:rPr lang="en-TW" dirty="0"/>
              <a:t>Demo</a:t>
            </a:r>
          </a:p>
          <a:p>
            <a:r>
              <a:rPr lang="en-TW" dirty="0"/>
              <a:t>Architecture</a:t>
            </a:r>
          </a:p>
          <a:p>
            <a:r>
              <a:rPr lang="en-TW" dirty="0"/>
              <a:t>Hearing</a:t>
            </a:r>
          </a:p>
          <a:p>
            <a:r>
              <a:rPr lang="en-TW" dirty="0"/>
              <a:t>Seeing</a:t>
            </a:r>
          </a:p>
          <a:p>
            <a:r>
              <a:rPr lang="en-TW" b="1" dirty="0"/>
              <a:t>Agent Integration</a:t>
            </a:r>
          </a:p>
          <a:p>
            <a:r>
              <a:rPr lang="en-TW" dirty="0"/>
              <a:t>Future Work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363232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Ask the Ag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TW" dirty="0"/>
              <a:t>Workspace as Context Storage</a:t>
            </a:r>
          </a:p>
        </p:txBody>
      </p:sp>
      <p:sp>
        <p:nvSpPr>
          <p:cNvPr id="1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186" name="The agent reads context collected by Kilo Sens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TW" dirty="0"/>
              <a:t>Codex inside the ~/.agent workspace:</a:t>
            </a:r>
            <a:endParaRPr dirty="0"/>
          </a:p>
          <a:p>
            <a:pPr lvl="1">
              <a:buFont typeface="Calibri"/>
              <a:buChar char="●"/>
            </a:pPr>
            <a:r>
              <a:rPr lang="en-US" dirty="0"/>
              <a:t>Agent Sense writes transcripts, notes, and captures into ~/.agent</a:t>
            </a:r>
          </a:p>
          <a:p>
            <a:pPr lvl="1">
              <a:buFont typeface="Calibri"/>
              <a:buChar char="●"/>
            </a:pPr>
            <a:r>
              <a:rPr lang="en-US" dirty="0"/>
              <a:t>Codex reads these files with its built-in file tools</a:t>
            </a:r>
          </a:p>
          <a:p>
            <a:endParaRPr lang="en-TW" dirty="0"/>
          </a:p>
          <a:p>
            <a:r>
              <a:rPr lang="en-TW" dirty="0"/>
              <a:t>AGENTS.md provides workspace instructions:</a:t>
            </a:r>
            <a:endParaRPr lang="en-US" dirty="0"/>
          </a:p>
          <a:p>
            <a:pPr lvl="1">
              <a:buFont typeface="Calibri"/>
              <a:buChar char="●"/>
            </a:pPr>
            <a:r>
              <a:rPr lang="en-US" dirty="0"/>
              <a:t>Describes where transcripts and captures are stored</a:t>
            </a:r>
          </a:p>
          <a:p>
            <a:pPr lvl="1">
              <a:buFont typeface="Calibri"/>
              <a:buChar char="●"/>
            </a:pPr>
            <a:r>
              <a:rPr lang="en-US" dirty="0"/>
              <a:t>Tells Codex how to search past context</a:t>
            </a:r>
          </a:p>
          <a:p>
            <a:endParaRPr lang="en-TW" dirty="0"/>
          </a:p>
          <a:p>
            <a:r>
              <a:rPr lang="en-TW" dirty="0"/>
              <a:t>Each user request includes recent context:</a:t>
            </a:r>
            <a:endParaRPr lang="en-US" dirty="0"/>
          </a:p>
          <a:p>
            <a:pPr lvl="1">
              <a:buFont typeface="Calibri"/>
              <a:buChar char="●"/>
            </a:pPr>
            <a:r>
              <a:rPr lang="en-TW" dirty="0"/>
              <a:t>Selected text and screenshots are attached to the prompt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7D812-4F76-2F69-F0EF-6BF6BC0B1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utline">
            <a:extLst>
              <a:ext uri="{FF2B5EF4-FFF2-40B4-BE49-F238E27FC236}">
                <a16:creationId xmlns:a16="http://schemas.microsoft.com/office/drawing/2014/main" id="{8D1F5E30-C0BA-4265-BB66-551F16B9C7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Outline</a:t>
            </a:r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41A36E9B-F3B2-C963-2099-0FDA34F8A45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93" name="Motivation…">
            <a:extLst>
              <a:ext uri="{FF2B5EF4-FFF2-40B4-BE49-F238E27FC236}">
                <a16:creationId xmlns:a16="http://schemas.microsoft.com/office/drawing/2014/main" id="{3E3EBFD8-B837-AC90-C9EB-73F0EA4F04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TW" dirty="0"/>
              <a:t>Motivation</a:t>
            </a:r>
          </a:p>
          <a:p>
            <a:r>
              <a:rPr lang="en-TW" dirty="0"/>
              <a:t>Agent Sense</a:t>
            </a:r>
          </a:p>
          <a:p>
            <a:r>
              <a:rPr lang="en-TW" dirty="0"/>
              <a:t>Demo</a:t>
            </a:r>
          </a:p>
          <a:p>
            <a:r>
              <a:rPr lang="en-TW" dirty="0"/>
              <a:t>Architecture</a:t>
            </a:r>
          </a:p>
          <a:p>
            <a:r>
              <a:rPr lang="en-TW" dirty="0"/>
              <a:t>Hearing Pipeline</a:t>
            </a:r>
          </a:p>
          <a:p>
            <a:r>
              <a:rPr lang="en-TW" dirty="0"/>
              <a:t>Seeing Pipeline</a:t>
            </a:r>
          </a:p>
          <a:p>
            <a:r>
              <a:rPr lang="en-TW" dirty="0"/>
              <a:t>Agent Integration</a:t>
            </a:r>
          </a:p>
          <a:p>
            <a:r>
              <a:rPr lang="en-TW" b="1" dirty="0"/>
              <a:t>Future Work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578373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Future 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Future Work</a:t>
            </a:r>
          </a:p>
        </p:txBody>
      </p:sp>
      <p:sp>
        <p:nvSpPr>
          <p:cNvPr id="1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190" name="Local model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Local model:</a:t>
            </a:r>
          </a:p>
          <a:p>
            <a:pPr lvl="1">
              <a:buFont typeface="Calibri"/>
              <a:buChar char="●"/>
            </a:pPr>
            <a:r>
              <a:rPr lang="en-TW" dirty="0"/>
              <a:t>Current transcript cleanup relies on cloud models</a:t>
            </a:r>
            <a:endParaRPr dirty="0"/>
          </a:p>
          <a:p>
            <a:pPr lvl="1">
              <a:buChar char="●"/>
            </a:pPr>
            <a:r>
              <a:rPr lang="en-US" dirty="0"/>
              <a:t>Next step: move cleanup and language processing to a local model</a:t>
            </a:r>
          </a:p>
          <a:p>
            <a:pPr lvl="1">
              <a:buChar char="●"/>
            </a:pPr>
            <a:r>
              <a:rPr lang="en-US" dirty="0"/>
              <a:t>Goal: keep the full sensing pipeline on device</a:t>
            </a:r>
          </a:p>
          <a:p>
            <a:pPr lvl="1">
              <a:buChar char="●"/>
            </a:pPr>
            <a:endParaRPr dirty="0"/>
          </a:p>
          <a:p>
            <a:r>
              <a:rPr lang="en-TW" dirty="0"/>
              <a:t>Multi-speaker Support</a:t>
            </a:r>
            <a:r>
              <a:rPr lang="en-US" dirty="0"/>
              <a:t>:</a:t>
            </a:r>
          </a:p>
          <a:p>
            <a:pPr lvl="1">
              <a:buFont typeface="Calibri"/>
              <a:buChar char="●"/>
            </a:pPr>
            <a:r>
              <a:rPr lang="en-US" dirty="0"/>
              <a:t>Current transcripts do not distinguish between speakers</a:t>
            </a:r>
          </a:p>
          <a:p>
            <a:pPr lvl="1">
              <a:buFont typeface="Calibri"/>
              <a:buChar char="●"/>
            </a:pPr>
            <a:r>
              <a:rPr lang="en-US" dirty="0"/>
              <a:t>Next step: add speaker </a:t>
            </a:r>
            <a:r>
              <a:rPr lang="en-US" dirty="0" err="1"/>
              <a:t>diarization</a:t>
            </a:r>
            <a:r>
              <a:rPr lang="en-US" dirty="0"/>
              <a:t> to separate speaker turns</a:t>
            </a:r>
          </a:p>
          <a:p>
            <a:pPr lvl="1">
              <a:buFont typeface="Calibri"/>
              <a:buChar char="●"/>
            </a:pPr>
            <a:r>
              <a:rPr lang="en-US" dirty="0"/>
              <a:t>Goal: label multi-speaker audio as Speaker A, B, C, etc.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0B185-A191-BDC8-E95E-8004B4FD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utline">
            <a:extLst>
              <a:ext uri="{FF2B5EF4-FFF2-40B4-BE49-F238E27FC236}">
                <a16:creationId xmlns:a16="http://schemas.microsoft.com/office/drawing/2014/main" id="{8DD9E008-23DC-8E54-D999-872FED535F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Q &amp; A</a:t>
            </a:r>
            <a:endParaRPr dirty="0"/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FACB48FD-317D-6575-A01F-A3BD9971293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806572" y="6509466"/>
            <a:ext cx="194217" cy="28076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750787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inLAB Template">
  <a:themeElements>
    <a:clrScheme name="WinLAB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WinLAB Templat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WinLAB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  <a:tailEnd type="triangle"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inLAB Template">
  <a:themeElements>
    <a:clrScheme name="WinLAB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WinLAB Templat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WinLAB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CD3D09-766A-4F4C-82B3-EA6C5AA0263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5a78066-f61d-4f02-b698-db74e8fb8ba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838</Words>
  <Application>Microsoft Macintosh PowerPoint</Application>
  <PresentationFormat>Widescreen</PresentationFormat>
  <Paragraphs>211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 Math</vt:lpstr>
      <vt:lpstr>WinLAB Template</vt:lpstr>
      <vt:lpstr>A Sensory Layer for AI Agent</vt:lpstr>
      <vt:lpstr>Outline</vt:lpstr>
      <vt:lpstr>From YouTube Insight to Notes</vt:lpstr>
      <vt:lpstr>Agent Need Senses</vt:lpstr>
      <vt:lpstr>Agent Sense: A Sensory Layer for AI Agent</vt:lpstr>
      <vt:lpstr>Outline</vt:lpstr>
      <vt:lpstr>Outline</vt:lpstr>
      <vt:lpstr>Agent Sense Architecture</vt:lpstr>
      <vt:lpstr>Outline</vt:lpstr>
      <vt:lpstr>Hearing Pipeline</vt:lpstr>
      <vt:lpstr>Apple SpeechTranscriber</vt:lpstr>
      <vt:lpstr>Language Router</vt:lpstr>
      <vt:lpstr>Transcript Post-Processor</vt:lpstr>
      <vt:lpstr>Transcript Store</vt:lpstr>
      <vt:lpstr>Outline</vt:lpstr>
      <vt:lpstr>Apple Accessibility API</vt:lpstr>
      <vt:lpstr>Outline</vt:lpstr>
      <vt:lpstr>Workspace as Context Storage</vt:lpstr>
      <vt:lpstr>Outline</vt:lpstr>
      <vt:lpstr>Future Work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詹詠翔</cp:lastModifiedBy>
  <cp:revision>6</cp:revision>
  <dcterms:modified xsi:type="dcterms:W3CDTF">2026-06-15T09:27:22Z</dcterms:modified>
</cp:coreProperties>
</file>